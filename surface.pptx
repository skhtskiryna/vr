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2" r:id="rId6"/>
    <p:sldId id="264" r:id="rId7"/>
    <p:sldId id="265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9" r:id="rId20"/>
    <p:sldId id="280" r:id="rId21"/>
    <p:sldId id="281" r:id="rId22"/>
    <p:sldId id="282" r:id="rId23"/>
    <p:sldId id="284" r:id="rId24"/>
    <p:sldId id="285" r:id="rId25"/>
    <p:sldId id="286" r:id="rId26"/>
  </p:sldIdLst>
  <p:sldSz cx="9144000" cy="5715000" type="screen16x1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25" autoAdjust="0"/>
    <p:restoredTop sz="94660"/>
  </p:normalViewPr>
  <p:slideViewPr>
    <p:cSldViewPr>
      <p:cViewPr>
        <p:scale>
          <a:sx n="125" d="100"/>
          <a:sy n="125" d="100"/>
        </p:scale>
        <p:origin x="336" y="156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775356"/>
            <a:ext cx="7772400" cy="1225021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6CCE-6179-47E3-B50A-3B04CC88ED20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83EC-236C-4EBB-8C0B-27B8B1102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121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6CCE-6179-47E3-B50A-3B04CC88ED20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83EC-236C-4EBB-8C0B-27B8B1102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014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6CCE-6179-47E3-B50A-3B04CC88ED20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83EC-236C-4EBB-8C0B-27B8B1102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8136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6CCE-6179-47E3-B50A-3B04CC88ED20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83EC-236C-4EBB-8C0B-27B8B1102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497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79262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8" y="1279262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8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6CCE-6179-47E3-B50A-3B04CC88ED20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83EC-236C-4EBB-8C0B-27B8B1102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32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6CCE-6179-47E3-B50A-3B04CC88ED20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83EC-236C-4EBB-8C0B-27B8B1102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84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6CCE-6179-47E3-B50A-3B04CC88ED20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83EC-236C-4EBB-8C0B-27B8B1102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722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3" y="227543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3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6CCE-6179-47E3-B50A-3B04CC88ED20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83EC-236C-4EBB-8C0B-27B8B1102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777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6CCE-6179-47E3-B50A-3B04CC88ED20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83EC-236C-4EBB-8C0B-27B8B1102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444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6CCE-6179-47E3-B50A-3B04CC88ED20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83EC-236C-4EBB-8C0B-27B8B1102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35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6CCE-6179-47E3-B50A-3B04CC88ED20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783EC-236C-4EBB-8C0B-27B8B1102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922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46CCE-6179-47E3-B50A-3B04CC88ED20}" type="datetimeFigureOut">
              <a:rPr lang="ru-RU" smtClean="0"/>
              <a:t>30.10.2026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783EC-236C-4EBB-8C0B-27B8B1102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47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IrA\Desktop\VGGI\lab\VR\render_ima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" y="0"/>
            <a:ext cx="9176455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9F3FCBB-944C-4CEB-9747-F5DB657A135F}"/>
              </a:ext>
            </a:extLst>
          </p:cNvPr>
          <p:cNvSpPr/>
          <p:nvPr/>
        </p:nvSpPr>
        <p:spPr>
          <a:xfrm>
            <a:off x="0" y="0"/>
            <a:ext cx="9180512" cy="5715000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1057303"/>
            <a:ext cx="7772400" cy="1225021"/>
          </a:xfrm>
        </p:spPr>
        <p:txBody>
          <a:bodyPr>
            <a:noAutofit/>
          </a:bodyPr>
          <a:lstStyle/>
          <a:p>
            <a:pPr algn="l"/>
            <a:r>
              <a:rPr lang="uk-UA" sz="3600" b="1" dirty="0"/>
              <a:t>Комп'ютерне моделювання, </a:t>
            </a:r>
            <a:r>
              <a:rPr lang="uk-UA" sz="3600" b="1" dirty="0" err="1"/>
              <a:t>текстурування</a:t>
            </a:r>
            <a:r>
              <a:rPr lang="uk-UA" sz="3600" b="1" dirty="0"/>
              <a:t> та анімація складних поверхонь у </a:t>
            </a:r>
            <a:r>
              <a:rPr lang="uk-UA" sz="3600" b="1" dirty="0" err="1"/>
              <a:t>Blender</a:t>
            </a:r>
            <a:endParaRPr lang="uk-UA" sz="36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3568" y="4585692"/>
            <a:ext cx="2520280" cy="473348"/>
          </a:xfrm>
        </p:spPr>
        <p:txBody>
          <a:bodyPr>
            <a:normAutofit fontScale="92500"/>
          </a:bodyPr>
          <a:lstStyle/>
          <a:p>
            <a:r>
              <a:rPr lang="uk-UA" sz="1800" b="1" dirty="0">
                <a:solidFill>
                  <a:schemeClr val="tx1"/>
                </a:solidFill>
              </a:rPr>
              <a:t>ТР-62мп </a:t>
            </a:r>
            <a:r>
              <a:rPr lang="uk-UA" sz="1800" b="1" dirty="0" err="1">
                <a:solidFill>
                  <a:schemeClr val="tx1"/>
                </a:solidFill>
              </a:rPr>
              <a:t>Сахацька</a:t>
            </a:r>
            <a:r>
              <a:rPr lang="uk-UA" sz="1800" b="1" dirty="0">
                <a:solidFill>
                  <a:schemeClr val="tx1"/>
                </a:solidFill>
              </a:rPr>
              <a:t> Ірина</a:t>
            </a:r>
            <a:endParaRPr lang="ru-RU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7599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1396"/>
            <a:ext cx="9144000" cy="3793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A0262B-851A-4E90-B545-0FCA2671D1AB}"/>
              </a:ext>
            </a:extLst>
          </p:cNvPr>
          <p:cNvSpPr txBox="1"/>
          <p:nvPr/>
        </p:nvSpPr>
        <p:spPr>
          <a:xfrm>
            <a:off x="246408" y="193204"/>
            <a:ext cx="865118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виконання завдання з процедурного моделювання у середовищі </a:t>
            </a:r>
            <a:r>
              <a:rPr lang="en-US" sz="1400" dirty="0"/>
              <a:t>Blender </a:t>
            </a:r>
            <a:r>
              <a:rPr lang="uk-UA" sz="1400" dirty="0"/>
              <a:t>необхідно у вкладці </a:t>
            </a:r>
            <a:r>
              <a:rPr lang="en-US" sz="1400" dirty="0"/>
              <a:t>Scripting </a:t>
            </a:r>
            <a:r>
              <a:rPr lang="uk-UA" sz="1400" dirty="0"/>
              <a:t>реалізувати алгоритм побудови складної конічної поверхні мовою </a:t>
            </a:r>
            <a:r>
              <a:rPr lang="en-US" sz="1400" dirty="0"/>
              <a:t>Python </a:t>
            </a:r>
            <a:r>
              <a:rPr lang="uk-UA" sz="1400" dirty="0"/>
              <a:t>за допомогою модулів </a:t>
            </a:r>
            <a:r>
              <a:rPr lang="en-US" sz="1400" dirty="0"/>
              <a:t>math </a:t>
            </a:r>
            <a:r>
              <a:rPr lang="uk-UA" sz="1400" dirty="0"/>
              <a:t>та </a:t>
            </a:r>
            <a:r>
              <a:rPr lang="en-US" sz="1400" dirty="0" err="1"/>
              <a:t>bpy</a:t>
            </a:r>
            <a:r>
              <a:rPr lang="en-US" sz="1400" dirty="0"/>
              <a:t>. </a:t>
            </a:r>
            <a:endParaRPr lang="uk-UA" sz="1400" dirty="0"/>
          </a:p>
          <a:p>
            <a:r>
              <a:rPr lang="uk-UA" sz="1400" dirty="0"/>
              <a:t>У коді визначаються параметри та задається сітка дискретизації простору (</a:t>
            </a:r>
            <a:r>
              <a:rPr lang="en-US" sz="1400" dirty="0" err="1"/>
              <a:t>uSteps</a:t>
            </a:r>
            <a:r>
              <a:rPr lang="en-US" sz="1400" dirty="0"/>
              <a:t> = 96, </a:t>
            </a:r>
            <a:r>
              <a:rPr lang="en-US" sz="1400" dirty="0" err="1"/>
              <a:t>vSteps</a:t>
            </a:r>
            <a:r>
              <a:rPr lang="en-US" sz="1400" dirty="0"/>
              <a:t> = 16), </a:t>
            </a:r>
            <a:r>
              <a:rPr lang="uk-UA" sz="1400" dirty="0"/>
              <a:t>після чого в ітераційних циклах обчислюються просторові координати вершин за аналітичними тригонометричними формулами з одночасним формуванням параметричної </a:t>
            </a:r>
            <a:r>
              <a:rPr lang="en-US" sz="1400" dirty="0"/>
              <a:t>UV-</a:t>
            </a:r>
            <a:r>
              <a:rPr lang="uk-UA" sz="1400" dirty="0"/>
              <a:t>розгортки (</a:t>
            </a:r>
            <a:r>
              <a:rPr lang="en-US" sz="1400" dirty="0" err="1"/>
              <a:t>utex</a:t>
            </a:r>
            <a:r>
              <a:rPr lang="en-US" sz="1400" dirty="0"/>
              <a:t>, </a:t>
            </a:r>
            <a:r>
              <a:rPr lang="en-US" sz="1400" dirty="0" err="1"/>
              <a:t>vTex</a:t>
            </a:r>
            <a:r>
              <a:rPr lang="en-US" sz="1400" dirty="0"/>
              <a:t>) </a:t>
            </a:r>
            <a:r>
              <a:rPr lang="uk-UA" sz="1400" dirty="0"/>
              <a:t>для коректного накладання матеріалів, що забезпечує автоматичну генерацію полігонального мешу </a:t>
            </a:r>
            <a:r>
              <a:rPr lang="en-US" sz="1400" dirty="0" err="1"/>
              <a:t>ConicalSurface</a:t>
            </a:r>
            <a:r>
              <a:rPr lang="en-US" sz="1400" dirty="0"/>
              <a:t> </a:t>
            </a:r>
            <a:r>
              <a:rPr lang="uk-UA" sz="1400" dirty="0"/>
              <a:t>у сцені </a:t>
            </a:r>
            <a:r>
              <a:rPr lang="uk-UA" sz="1400" dirty="0" err="1"/>
              <a:t>проєкту</a:t>
            </a:r>
            <a:r>
              <a:rPr lang="uk-UA" sz="1400" dirty="0"/>
              <a:t> для подальшого </a:t>
            </a:r>
            <a:r>
              <a:rPr lang="uk-UA" sz="1400" dirty="0" err="1"/>
              <a:t>ригінгу</a:t>
            </a:r>
            <a:r>
              <a:rPr lang="uk-UA" sz="1400" dirty="0"/>
              <a:t> та анімації.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1360043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61356"/>
            <a:ext cx="9144000" cy="415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825279-2F50-4C5C-81FB-B5C1AA2CF03E}"/>
              </a:ext>
            </a:extLst>
          </p:cNvPr>
          <p:cNvSpPr txBox="1"/>
          <p:nvPr/>
        </p:nvSpPr>
        <p:spPr>
          <a:xfrm>
            <a:off x="179512" y="193204"/>
            <a:ext cx="87849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оптимізації візуального відображення згенерованої моделі та усунення </a:t>
            </a:r>
            <a:r>
              <a:rPr lang="uk-UA" sz="1400" dirty="0" err="1"/>
              <a:t>фасеточності</a:t>
            </a:r>
            <a:r>
              <a:rPr lang="uk-UA" sz="1400" dirty="0"/>
              <a:t> полігональної сітки необхідно в об'єктному режимі (</a:t>
            </a:r>
            <a:r>
              <a:rPr lang="en-US" sz="1400" dirty="0"/>
              <a:t>Object Mode) </a:t>
            </a:r>
            <a:r>
              <a:rPr lang="uk-UA" sz="1400" dirty="0"/>
              <a:t>виділити створену поверхню </a:t>
            </a:r>
            <a:r>
              <a:rPr lang="en-US" sz="1400" dirty="0" err="1"/>
              <a:t>ConicalSurface</a:t>
            </a:r>
            <a:r>
              <a:rPr lang="en-US" sz="1400" dirty="0"/>
              <a:t>, </a:t>
            </a:r>
            <a:r>
              <a:rPr lang="uk-UA" sz="1400" dirty="0"/>
              <a:t>викликати контекстне меню правою кнопкою миші та застосувати функцію </a:t>
            </a:r>
            <a:r>
              <a:rPr lang="en-US" sz="1400" dirty="0"/>
              <a:t>Shade Auto Smooth, </a:t>
            </a:r>
            <a:r>
              <a:rPr lang="uk-UA" sz="1400" dirty="0"/>
              <a:t>яка автоматично інтерполює нормалі та згладжує плавні криволінійні ділянки геометрії з урахуванням кута між суміжними гранями, зберігаючи чіткість </a:t>
            </a:r>
            <a:r>
              <a:rPr lang="uk-UA" sz="1400" dirty="0" err="1"/>
              <a:t>ребер</a:t>
            </a:r>
            <a:r>
              <a:rPr lang="uk-UA" sz="1400" dirty="0"/>
              <a:t> і готуючи меш до якісного накладання карт матеріалів та </a:t>
            </a:r>
            <a:r>
              <a:rPr lang="uk-UA" sz="1400" dirty="0" err="1"/>
              <a:t>рендерингу</a:t>
            </a:r>
            <a:r>
              <a:rPr lang="uk-UA" sz="1400" dirty="0"/>
              <a:t>.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2814366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971"/>
            <a:ext cx="9144000" cy="3622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C0BDB7-16A6-4455-ADBA-49AD96BCF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671953"/>
            <a:ext cx="1835695" cy="2058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28E88E-2C2E-4B80-A410-8B83F24931C6}"/>
              </a:ext>
            </a:extLst>
          </p:cNvPr>
          <p:cNvSpPr txBox="1"/>
          <p:nvPr/>
        </p:nvSpPr>
        <p:spPr>
          <a:xfrm>
            <a:off x="179512" y="4008473"/>
            <a:ext cx="69847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підвищення плавності криволінійної геометрії та усунення кутастості форми необхідно на вкладці </a:t>
            </a:r>
            <a:r>
              <a:rPr lang="en-US" sz="1400" dirty="0"/>
              <a:t>Modifier Properties (</a:t>
            </a:r>
            <a:r>
              <a:rPr lang="uk-UA" sz="1400" dirty="0"/>
              <a:t>значок гайкового ключа) додати модифікатор </a:t>
            </a:r>
            <a:r>
              <a:rPr lang="en-US" sz="1400" dirty="0"/>
              <a:t>Subdivision Surface (</a:t>
            </a:r>
            <a:r>
              <a:rPr lang="uk-UA" sz="1400" dirty="0"/>
              <a:t>розділ </a:t>
            </a:r>
            <a:r>
              <a:rPr lang="en-US" sz="1400" dirty="0"/>
              <a:t>Generate), </a:t>
            </a:r>
            <a:r>
              <a:rPr lang="uk-UA" sz="1400" dirty="0"/>
              <a:t>який розбиває грані полігональної сітки на дрібніші сегменти. У параметрах модифікатора встановлюються рівні розбиття. </a:t>
            </a:r>
            <a:r>
              <a:rPr lang="en-US" sz="1400" i="1" dirty="0"/>
              <a:t>Levels Viewport: 1 </a:t>
            </a:r>
            <a:r>
              <a:rPr lang="uk-UA" sz="1400" dirty="0"/>
              <a:t>для оптимізації продуктивності у робочому вікні та </a:t>
            </a:r>
            <a:r>
              <a:rPr lang="en-US" sz="1400" i="1" dirty="0"/>
              <a:t>Render: 2 </a:t>
            </a:r>
            <a:r>
              <a:rPr lang="uk-UA" sz="1400" dirty="0"/>
              <a:t>для отримання ідеально згладженої поверхні на фінальному зображенні.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1173454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7277"/>
            <a:ext cx="9144000" cy="3973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7F8477-F49D-45BC-8542-09C4E321F4E0}"/>
              </a:ext>
            </a:extLst>
          </p:cNvPr>
          <p:cNvSpPr txBox="1"/>
          <p:nvPr/>
        </p:nvSpPr>
        <p:spPr>
          <a:xfrm flipH="1">
            <a:off x="179512" y="193204"/>
            <a:ext cx="87849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налаштування візуальних властивостей поверхні та переходу до </a:t>
            </a:r>
            <a:r>
              <a:rPr lang="uk-UA" sz="1400" dirty="0" err="1"/>
              <a:t>текстурування</a:t>
            </a:r>
            <a:r>
              <a:rPr lang="uk-UA" sz="1400" dirty="0"/>
              <a:t> необхідно у верхньому рядку перемкнутися на робочу область </a:t>
            </a:r>
            <a:r>
              <a:rPr lang="en-US" sz="1400" dirty="0"/>
              <a:t>Shading, </a:t>
            </a:r>
            <a:r>
              <a:rPr lang="uk-UA" sz="1400" dirty="0"/>
              <a:t>де у 3</a:t>
            </a:r>
            <a:r>
              <a:rPr lang="en-US" sz="1400" dirty="0"/>
              <a:t>D-</a:t>
            </a:r>
            <a:r>
              <a:rPr lang="uk-UA" sz="1400" dirty="0"/>
              <a:t>вікні автоматично вмикається режим перегляду матеріалів (</a:t>
            </a:r>
            <a:r>
              <a:rPr lang="en-US" sz="1400" dirty="0"/>
              <a:t>Material Preview) </a:t>
            </a:r>
            <a:r>
              <a:rPr lang="uk-UA" sz="1400" dirty="0"/>
              <a:t>з інтегрованим навколишнім освітленням (</a:t>
            </a:r>
            <a:r>
              <a:rPr lang="en-US" sz="1400" dirty="0"/>
              <a:t>HDRI). </a:t>
            </a:r>
            <a:r>
              <a:rPr lang="uk-UA" sz="1400" dirty="0"/>
              <a:t>Далі для виділеної моделі </a:t>
            </a:r>
            <a:r>
              <a:rPr lang="en-US" sz="1400" dirty="0" err="1"/>
              <a:t>ConicalSurface</a:t>
            </a:r>
            <a:r>
              <a:rPr lang="en-US" sz="1400" dirty="0"/>
              <a:t> </a:t>
            </a:r>
            <a:r>
              <a:rPr lang="uk-UA" sz="1400" dirty="0"/>
              <a:t>у нижній панелі редактора </a:t>
            </a:r>
            <a:r>
              <a:rPr lang="uk-UA" sz="1400" dirty="0" err="1"/>
              <a:t>шейдерів</a:t>
            </a:r>
            <a:r>
              <a:rPr lang="uk-UA" sz="1400" dirty="0"/>
              <a:t> (</a:t>
            </a:r>
            <a:r>
              <a:rPr lang="en-US" sz="1400" dirty="0"/>
              <a:t>Shader Editor) </a:t>
            </a:r>
            <a:r>
              <a:rPr lang="uk-UA" sz="1400" dirty="0"/>
              <a:t>натискається кнопка </a:t>
            </a:r>
            <a:r>
              <a:rPr lang="en-US" sz="1400" dirty="0"/>
              <a:t>New </a:t>
            </a:r>
            <a:r>
              <a:rPr lang="uk-UA" sz="1400" dirty="0"/>
              <a:t>для створення нового матеріалу, що </a:t>
            </a:r>
            <a:r>
              <a:rPr lang="uk-UA" sz="1400" dirty="0" err="1"/>
              <a:t>ініціалізує</a:t>
            </a:r>
            <a:r>
              <a:rPr lang="uk-UA" sz="1400" dirty="0"/>
              <a:t> базову </a:t>
            </a:r>
            <a:r>
              <a:rPr lang="uk-UA" sz="1400" dirty="0" err="1"/>
              <a:t>нодову</a:t>
            </a:r>
            <a:r>
              <a:rPr lang="uk-UA" sz="1400" dirty="0"/>
              <a:t> схему на основі </a:t>
            </a:r>
            <a:r>
              <a:rPr lang="uk-UA" sz="1400" dirty="0" err="1"/>
              <a:t>шейдера</a:t>
            </a:r>
            <a:r>
              <a:rPr lang="uk-UA" sz="1400" dirty="0"/>
              <a:t> </a:t>
            </a:r>
            <a:r>
              <a:rPr lang="en-US" sz="1400" dirty="0"/>
              <a:t>Principled BSDF </a:t>
            </a:r>
            <a:r>
              <a:rPr lang="uk-UA" sz="1400" dirty="0"/>
              <a:t>та готує середовище до підключення завантажених через вбудований файловий провідник карт текстур (дифузного кольору, шорсткості та нормалей).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2300386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97460"/>
            <a:ext cx="9144000" cy="3282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98074D-DC8B-47E6-BDD6-C12EC982D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308"/>
            <a:ext cx="5077474" cy="243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F52C99-A93F-46F9-B542-EB971FE43D2D}"/>
              </a:ext>
            </a:extLst>
          </p:cNvPr>
          <p:cNvSpPr txBox="1"/>
          <p:nvPr/>
        </p:nvSpPr>
        <p:spPr>
          <a:xfrm>
            <a:off x="5364088" y="409853"/>
            <a:ext cx="352839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реалізації </a:t>
            </a:r>
            <a:r>
              <a:rPr lang="uk-UA" sz="1400" dirty="0" err="1"/>
              <a:t>текстурування</a:t>
            </a:r>
            <a:r>
              <a:rPr lang="uk-UA" sz="1400" dirty="0"/>
              <a:t> поверхні та формування матеріалу в редакторі </a:t>
            </a:r>
            <a:r>
              <a:rPr lang="uk-UA" sz="1400" dirty="0" err="1"/>
              <a:t>шейдерів</a:t>
            </a:r>
            <a:r>
              <a:rPr lang="uk-UA" sz="1400" dirty="0"/>
              <a:t> (</a:t>
            </a:r>
            <a:r>
              <a:rPr lang="en-US" sz="1400" dirty="0"/>
              <a:t>Shader Editor) </a:t>
            </a:r>
            <a:r>
              <a:rPr lang="uk-UA" sz="1400" dirty="0"/>
              <a:t>через меню </a:t>
            </a:r>
            <a:r>
              <a:rPr lang="en-US" sz="1400" dirty="0"/>
              <a:t>Add </a:t>
            </a:r>
            <a:r>
              <a:rPr lang="uk-UA" sz="1400" dirty="0"/>
              <a:t>-</a:t>
            </a:r>
            <a:r>
              <a:rPr lang="en-US" sz="1400" dirty="0"/>
              <a:t>&gt; Texture </a:t>
            </a:r>
            <a:r>
              <a:rPr lang="uk-UA" sz="1400" dirty="0"/>
              <a:t>додається </a:t>
            </a:r>
            <a:r>
              <a:rPr lang="uk-UA" sz="1400" dirty="0" err="1"/>
              <a:t>нода</a:t>
            </a:r>
            <a:r>
              <a:rPr lang="uk-UA" sz="1400" dirty="0"/>
              <a:t> </a:t>
            </a:r>
            <a:r>
              <a:rPr lang="en-US" sz="1400" dirty="0"/>
              <a:t>Image Texture, </a:t>
            </a:r>
            <a:r>
              <a:rPr lang="uk-UA" sz="1400" dirty="0"/>
              <a:t>після чого за допомогою вбудованого провідника (</a:t>
            </a:r>
            <a:r>
              <a:rPr lang="en-US" sz="1400" dirty="0"/>
              <a:t>Blender File View) </a:t>
            </a:r>
            <a:r>
              <a:rPr lang="uk-UA" sz="1400" dirty="0"/>
              <a:t>виконується завантаження растрових карт</a:t>
            </a:r>
            <a:r>
              <a:rPr lang="en-US" sz="1400" dirty="0"/>
              <a:t>.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3443830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921396"/>
            <a:ext cx="6372199" cy="3793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ABBC79-F0E4-41BB-9858-092ED1A11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" y="3779"/>
            <a:ext cx="3991724" cy="180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18A39E-AC2C-414E-B0D4-39796A43BB0F}"/>
              </a:ext>
            </a:extLst>
          </p:cNvPr>
          <p:cNvSpPr txBox="1"/>
          <p:nvPr/>
        </p:nvSpPr>
        <p:spPr>
          <a:xfrm>
            <a:off x="4139952" y="121196"/>
            <a:ext cx="475252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коректного налаштування фізично коректного </a:t>
            </a:r>
            <a:r>
              <a:rPr lang="uk-UA" sz="1400" dirty="0" err="1"/>
              <a:t>рендерингу</a:t>
            </a:r>
            <a:r>
              <a:rPr lang="uk-UA" sz="1400" dirty="0"/>
              <a:t> (</a:t>
            </a:r>
            <a:r>
              <a:rPr lang="en-US" sz="1400" dirty="0"/>
              <a:t>PBR) </a:t>
            </a:r>
            <a:r>
              <a:rPr lang="uk-UA" sz="1400" dirty="0"/>
              <a:t>у редакторі </a:t>
            </a:r>
            <a:r>
              <a:rPr lang="uk-UA" sz="1400" dirty="0" err="1"/>
              <a:t>шейдерів</a:t>
            </a:r>
            <a:r>
              <a:rPr lang="uk-UA" sz="1400" dirty="0"/>
              <a:t> (</a:t>
            </a:r>
            <a:r>
              <a:rPr lang="en-US" sz="1400" dirty="0"/>
              <a:t>Shader Editor) </a:t>
            </a:r>
            <a:r>
              <a:rPr lang="uk-UA" sz="1400" dirty="0"/>
              <a:t>необхідно правильно встановити параметри колірних просторів (</a:t>
            </a:r>
            <a:r>
              <a:rPr lang="en-US" sz="1400" dirty="0"/>
              <a:t>Color Space) </a:t>
            </a:r>
            <a:r>
              <a:rPr lang="uk-UA" sz="1400" dirty="0"/>
              <a:t>завантажених карт</a:t>
            </a:r>
            <a:r>
              <a:rPr lang="en-US" sz="1400" dirty="0"/>
              <a:t>. </a:t>
            </a:r>
            <a:r>
              <a:rPr lang="uk-UA" sz="1400" dirty="0"/>
              <a:t>Для текстури дифузного кольору </a:t>
            </a:r>
            <a:r>
              <a:rPr lang="en-US" sz="1400" dirty="0"/>
              <a:t>diffuse.jpg </a:t>
            </a:r>
            <a:r>
              <a:rPr lang="uk-UA" sz="1400" dirty="0"/>
              <a:t>зберігається профіль </a:t>
            </a:r>
            <a:r>
              <a:rPr lang="en-US" sz="1400" dirty="0"/>
              <a:t>sRGB, </a:t>
            </a:r>
            <a:r>
              <a:rPr lang="uk-UA" sz="1400" dirty="0"/>
              <a:t>а її вихідний канал </a:t>
            </a:r>
            <a:r>
              <a:rPr lang="en-US" sz="1400" dirty="0"/>
              <a:t>Color </a:t>
            </a:r>
            <a:r>
              <a:rPr lang="uk-UA" sz="1400" dirty="0"/>
              <a:t>з'єднується з входом </a:t>
            </a:r>
            <a:r>
              <a:rPr lang="en-US" sz="1400" dirty="0"/>
              <a:t>Base Color </a:t>
            </a:r>
            <a:r>
              <a:rPr lang="uk-UA" sz="1400" dirty="0" err="1"/>
              <a:t>шейдера</a:t>
            </a:r>
            <a:r>
              <a:rPr lang="uk-UA" sz="1400" dirty="0"/>
              <a:t> </a:t>
            </a:r>
            <a:r>
              <a:rPr lang="en-US" sz="1400" dirty="0"/>
              <a:t>Principled BSDF</a:t>
            </a:r>
            <a:r>
              <a:rPr lang="uk-UA" sz="1400" dirty="0"/>
              <a:t>. </a:t>
            </a:r>
            <a:endParaRPr lang="ru-UA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16631C-F45F-45E2-8714-4373C5404DD4}"/>
              </a:ext>
            </a:extLst>
          </p:cNvPr>
          <p:cNvSpPr txBox="1"/>
          <p:nvPr/>
        </p:nvSpPr>
        <p:spPr>
          <a:xfrm>
            <a:off x="6588224" y="2497460"/>
            <a:ext cx="230425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службових карт даних (зокрема карти відблисків </a:t>
            </a:r>
            <a:r>
              <a:rPr lang="en-US" sz="1400" dirty="0"/>
              <a:t>specular.jpg </a:t>
            </a:r>
            <a:r>
              <a:rPr lang="uk-UA" sz="1400" dirty="0"/>
              <a:t>та нормалей) у полі </a:t>
            </a:r>
            <a:r>
              <a:rPr lang="en-US" sz="1400" dirty="0"/>
              <a:t>Color Space </a:t>
            </a:r>
            <a:r>
              <a:rPr lang="uk-UA" sz="1400" dirty="0"/>
              <a:t>обов'язково обирається режим </a:t>
            </a:r>
            <a:r>
              <a:rPr lang="en-US" sz="1400" dirty="0"/>
              <a:t>Non-Color, </a:t>
            </a:r>
            <a:r>
              <a:rPr lang="uk-UA" sz="1400" dirty="0"/>
              <a:t>який вимикає гамма-корекцію та гарантує точне зчитування числових векторних даних без колірних спотворень рушієм </a:t>
            </a:r>
            <a:r>
              <a:rPr lang="uk-UA" sz="1400" dirty="0" err="1"/>
              <a:t>рендерингу</a:t>
            </a:r>
            <a:r>
              <a:rPr lang="uk-UA" sz="1400" dirty="0"/>
              <a:t>.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1357245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9348"/>
            <a:ext cx="9144000" cy="422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DFC784-B047-4B11-9731-8EC3795CFC90}"/>
              </a:ext>
            </a:extLst>
          </p:cNvPr>
          <p:cNvSpPr txBox="1"/>
          <p:nvPr/>
        </p:nvSpPr>
        <p:spPr>
          <a:xfrm>
            <a:off x="215516" y="121196"/>
            <a:ext cx="871296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налаштування фізичних властивостей відбиття світла та шорсткості поверхні вихідний канал </a:t>
            </a:r>
            <a:r>
              <a:rPr lang="en-US" sz="1400" dirty="0"/>
              <a:t>Color </a:t>
            </a:r>
            <a:r>
              <a:rPr lang="uk-UA" sz="1400" dirty="0" err="1"/>
              <a:t>ноди</a:t>
            </a:r>
            <a:r>
              <a:rPr lang="uk-UA" sz="1400" dirty="0"/>
              <a:t> текстури </a:t>
            </a:r>
            <a:r>
              <a:rPr lang="en-US" sz="1400" dirty="0"/>
              <a:t>specular.jpg</a:t>
            </a:r>
            <a:r>
              <a:rPr lang="uk-UA" sz="1400" dirty="0"/>
              <a:t> підключається до входу </a:t>
            </a:r>
            <a:r>
              <a:rPr lang="en-US" sz="1400" dirty="0"/>
              <a:t>Roughness </a:t>
            </a:r>
            <a:r>
              <a:rPr lang="uk-UA" sz="1400" dirty="0"/>
              <a:t>основного </a:t>
            </a:r>
            <a:r>
              <a:rPr lang="uk-UA" sz="1400" dirty="0" err="1"/>
              <a:t>шейдера</a:t>
            </a:r>
            <a:r>
              <a:rPr lang="uk-UA" sz="1400" dirty="0"/>
              <a:t> </a:t>
            </a:r>
            <a:r>
              <a:rPr lang="en-US" sz="1400" dirty="0"/>
              <a:t>Principled BSDF. </a:t>
            </a:r>
            <a:r>
              <a:rPr lang="uk-UA" sz="1400" dirty="0"/>
              <a:t>Це забезпечує </a:t>
            </a:r>
            <a:r>
              <a:rPr lang="uk-UA" sz="1400" dirty="0" err="1"/>
              <a:t>попіксельне</a:t>
            </a:r>
            <a:r>
              <a:rPr lang="uk-UA" sz="1400" dirty="0"/>
              <a:t> керування </a:t>
            </a:r>
            <a:r>
              <a:rPr lang="uk-UA" sz="1400" dirty="0" err="1"/>
              <a:t>мікрорельєфним</a:t>
            </a:r>
            <a:r>
              <a:rPr lang="uk-UA" sz="1400" dirty="0"/>
              <a:t> розсіюванням світла за допомогою карти даних без участі гамма-корекції, формуючи реалістичний фізично коректний ефект чергування матових та глянцевих ділянок на криволінійній поверхні </a:t>
            </a:r>
            <a:r>
              <a:rPr lang="en-US" sz="1400" dirty="0" err="1"/>
              <a:t>ConicalSurface</a:t>
            </a:r>
            <a:r>
              <a:rPr lang="en-US" sz="1400" dirty="0"/>
              <a:t> </a:t>
            </a:r>
            <a:r>
              <a:rPr lang="uk-UA" sz="1400" dirty="0"/>
              <a:t>у вікні попереднього перегляду.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1769341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4399133" cy="2713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20495"/>
            <a:ext cx="6156176" cy="2894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8CA3A5-B233-491D-AF27-55D3ABB6AC02}"/>
              </a:ext>
            </a:extLst>
          </p:cNvPr>
          <p:cNvSpPr txBox="1"/>
          <p:nvPr/>
        </p:nvSpPr>
        <p:spPr>
          <a:xfrm>
            <a:off x="4572000" y="664243"/>
            <a:ext cx="39604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налаштування імітації об'ємного рельєфу та деталізації поверхні в редакторі </a:t>
            </a:r>
            <a:r>
              <a:rPr lang="uk-UA" sz="1400" dirty="0" err="1"/>
              <a:t>шейдерів</a:t>
            </a:r>
            <a:r>
              <a:rPr lang="uk-UA" sz="1400" dirty="0"/>
              <a:t> (</a:t>
            </a:r>
            <a:r>
              <a:rPr lang="en-US" sz="1400" dirty="0"/>
              <a:t>Shader Editor) </a:t>
            </a:r>
            <a:r>
              <a:rPr lang="uk-UA" sz="1400" dirty="0"/>
              <a:t>для карти </a:t>
            </a:r>
            <a:r>
              <a:rPr lang="en-US" sz="1400" dirty="0"/>
              <a:t>normal.jpg </a:t>
            </a:r>
            <a:r>
              <a:rPr lang="uk-UA" sz="1400" dirty="0"/>
              <a:t>у полі </a:t>
            </a:r>
            <a:r>
              <a:rPr lang="en-US" sz="1400" dirty="0"/>
              <a:t>Color Space </a:t>
            </a:r>
            <a:r>
              <a:rPr lang="uk-UA" sz="1400" dirty="0"/>
              <a:t>встановлюється значення </a:t>
            </a:r>
            <a:r>
              <a:rPr lang="en-US" sz="1400" dirty="0"/>
              <a:t>Non-Color, </a:t>
            </a:r>
            <a:r>
              <a:rPr lang="uk-UA" sz="1400" dirty="0"/>
              <a:t>яке вимикає гамма-корекцію для коректного зчитування числових векторів напрямку. </a:t>
            </a:r>
            <a:endParaRPr lang="ru-UA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BC8FC2-9A55-4995-98E7-BB28110CEFF3}"/>
              </a:ext>
            </a:extLst>
          </p:cNvPr>
          <p:cNvSpPr txBox="1"/>
          <p:nvPr/>
        </p:nvSpPr>
        <p:spPr>
          <a:xfrm>
            <a:off x="6372200" y="3144362"/>
            <a:ext cx="25202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Далі через контекстне меню </a:t>
            </a:r>
            <a:r>
              <a:rPr lang="en-US" sz="1400" dirty="0"/>
              <a:t>Add -&gt; Vector </a:t>
            </a:r>
            <a:r>
              <a:rPr lang="uk-UA" sz="1400" dirty="0"/>
              <a:t>додається </a:t>
            </a:r>
            <a:r>
              <a:rPr lang="uk-UA" sz="1400" dirty="0" err="1"/>
              <a:t>конвертувальна</a:t>
            </a:r>
            <a:r>
              <a:rPr lang="uk-UA" sz="1400" dirty="0"/>
              <a:t> </a:t>
            </a:r>
            <a:r>
              <a:rPr lang="uk-UA" sz="1400" dirty="0" err="1"/>
              <a:t>нода</a:t>
            </a:r>
            <a:r>
              <a:rPr lang="uk-UA" sz="1400" dirty="0"/>
              <a:t> </a:t>
            </a:r>
            <a:r>
              <a:rPr lang="en-US" sz="1400" dirty="0"/>
              <a:t>Normal Map, </a:t>
            </a:r>
            <a:r>
              <a:rPr lang="uk-UA" sz="1400" dirty="0"/>
              <a:t>необхідна для перетворення </a:t>
            </a:r>
            <a:r>
              <a:rPr lang="en-US" sz="1400" dirty="0"/>
              <a:t>RGB-</a:t>
            </a:r>
            <a:r>
              <a:rPr lang="uk-UA" sz="1400" dirty="0"/>
              <a:t>значень пікселів текстури у збурення нормалей дотичного простору перед їх підключенням до входу </a:t>
            </a:r>
            <a:r>
              <a:rPr lang="en-US" sz="1400" dirty="0"/>
              <a:t>Normal </a:t>
            </a:r>
            <a:r>
              <a:rPr lang="uk-UA" sz="1400" dirty="0" err="1"/>
              <a:t>шейдера</a:t>
            </a:r>
            <a:r>
              <a:rPr lang="uk-UA" sz="1400" dirty="0"/>
              <a:t> </a:t>
            </a:r>
            <a:r>
              <a:rPr lang="en-US" sz="1400" dirty="0"/>
              <a:t>Principled BSDF</a:t>
            </a:r>
            <a:r>
              <a:rPr lang="uk-UA" sz="1400" dirty="0"/>
              <a:t>.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4238767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"/>
            <a:ext cx="6012166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8781FF-0964-4C0B-AA19-979DAE91A96C}"/>
              </a:ext>
            </a:extLst>
          </p:cNvPr>
          <p:cNvSpPr txBox="1"/>
          <p:nvPr/>
        </p:nvSpPr>
        <p:spPr>
          <a:xfrm flipH="1">
            <a:off x="251520" y="1518672"/>
            <a:ext cx="27363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остаточного формування повноцінного </a:t>
            </a:r>
            <a:r>
              <a:rPr lang="en-US" sz="1400" dirty="0"/>
              <a:t>PBR-</a:t>
            </a:r>
            <a:r>
              <a:rPr lang="uk-UA" sz="1400" dirty="0"/>
              <a:t>матеріалу в редакторі </a:t>
            </a:r>
            <a:r>
              <a:rPr lang="uk-UA" sz="1400" dirty="0" err="1"/>
              <a:t>шейдерів</a:t>
            </a:r>
            <a:r>
              <a:rPr lang="uk-UA" sz="1400" dirty="0"/>
              <a:t> (</a:t>
            </a:r>
            <a:r>
              <a:rPr lang="en-US" sz="1400" dirty="0"/>
              <a:t>Shader Editor) </a:t>
            </a:r>
            <a:r>
              <a:rPr lang="uk-UA" sz="1400" dirty="0"/>
              <a:t>виконується повна комутація </a:t>
            </a:r>
            <a:r>
              <a:rPr lang="uk-UA" sz="1400" dirty="0" err="1"/>
              <a:t>нодової</a:t>
            </a:r>
            <a:r>
              <a:rPr lang="uk-UA" sz="1400" dirty="0"/>
              <a:t> схеми</a:t>
            </a:r>
            <a:r>
              <a:rPr lang="en-US" sz="1400" dirty="0"/>
              <a:t>. </a:t>
            </a:r>
            <a:r>
              <a:rPr lang="uk-UA" sz="1400" dirty="0"/>
              <a:t>Результуючий вихід </a:t>
            </a:r>
            <a:r>
              <a:rPr lang="en-US" sz="1400" dirty="0"/>
              <a:t>BSDF </a:t>
            </a:r>
            <a:r>
              <a:rPr lang="uk-UA" sz="1400" dirty="0"/>
              <a:t>передається на вхід </a:t>
            </a:r>
            <a:r>
              <a:rPr lang="en-US" sz="1400" dirty="0"/>
              <a:t>Surface </a:t>
            </a:r>
            <a:r>
              <a:rPr lang="uk-UA" sz="1400" dirty="0"/>
              <a:t>фінальної </a:t>
            </a:r>
            <a:r>
              <a:rPr lang="uk-UA" sz="1400" dirty="0" err="1"/>
              <a:t>ноди</a:t>
            </a:r>
            <a:r>
              <a:rPr lang="uk-UA" sz="1400" dirty="0"/>
              <a:t> </a:t>
            </a:r>
            <a:r>
              <a:rPr lang="en-US" sz="1400" dirty="0"/>
              <a:t>Material Output </a:t>
            </a:r>
            <a:r>
              <a:rPr lang="uk-UA" sz="1400" dirty="0"/>
              <a:t>для коректного відображення матеріалу поверхні </a:t>
            </a:r>
            <a:r>
              <a:rPr lang="en-US" sz="1400" dirty="0" err="1"/>
              <a:t>ConicalSurface</a:t>
            </a:r>
            <a:r>
              <a:rPr lang="en-US" sz="1400" dirty="0"/>
              <a:t> </a:t>
            </a:r>
            <a:r>
              <a:rPr lang="uk-UA" sz="1400" dirty="0"/>
              <a:t>під час візуалізації та анімації.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1962775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3324"/>
            <a:ext cx="9144000" cy="4441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75606B-FFCF-45A5-AE89-EAE3A786A4D1}"/>
              </a:ext>
            </a:extLst>
          </p:cNvPr>
          <p:cNvSpPr txBox="1"/>
          <p:nvPr/>
        </p:nvSpPr>
        <p:spPr>
          <a:xfrm flipH="1">
            <a:off x="179512" y="265212"/>
            <a:ext cx="87129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візуального контролю та перевірки коректності накладання текстур в основній робочій області </a:t>
            </a:r>
            <a:r>
              <a:rPr lang="en-US" sz="1400" dirty="0"/>
              <a:t>Layout </a:t>
            </a:r>
            <a:r>
              <a:rPr lang="uk-UA" sz="1400" dirty="0"/>
              <a:t>необхідно у 3</a:t>
            </a:r>
            <a:r>
              <a:rPr lang="en-US" sz="1400" dirty="0"/>
              <a:t>D-</a:t>
            </a:r>
            <a:r>
              <a:rPr lang="uk-UA" sz="1400" dirty="0"/>
              <a:t>вікні натиснути гарячу клавішу </a:t>
            </a:r>
            <a:r>
              <a:rPr lang="en-US" sz="1400" dirty="0"/>
              <a:t>Z </a:t>
            </a:r>
            <a:r>
              <a:rPr lang="uk-UA" sz="1400" dirty="0"/>
              <a:t>для виклику кругового селектора режимів затінення (</a:t>
            </a:r>
            <a:r>
              <a:rPr lang="en-US" sz="1400" dirty="0"/>
              <a:t>Viewport Shading) </a:t>
            </a:r>
            <a:r>
              <a:rPr lang="uk-UA" sz="1400" dirty="0"/>
              <a:t>та змінити режим із базового спрощеного відображення </a:t>
            </a:r>
            <a:r>
              <a:rPr lang="en-US" sz="1400" dirty="0"/>
              <a:t>Solid </a:t>
            </a:r>
            <a:r>
              <a:rPr lang="uk-UA" sz="1400" dirty="0"/>
              <a:t>на </a:t>
            </a:r>
            <a:r>
              <a:rPr lang="en-US" sz="1400" dirty="0"/>
              <a:t>Material Preview. 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2140766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5332"/>
            <a:ext cx="9144000" cy="4369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7C1B79-2A76-4613-A597-2196FD492AC1}"/>
              </a:ext>
            </a:extLst>
          </p:cNvPr>
          <p:cNvSpPr txBox="1"/>
          <p:nvPr/>
        </p:nvSpPr>
        <p:spPr>
          <a:xfrm>
            <a:off x="323528" y="193204"/>
            <a:ext cx="84969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підготовки сцени до фінальної візуалізації здійснюється перехід у режим вигляду з камери (</a:t>
            </a:r>
            <a:r>
              <a:rPr lang="en-US" sz="1400" dirty="0"/>
              <a:t>Camera Perspective, </a:t>
            </a:r>
            <a:r>
              <a:rPr lang="uk-UA" sz="1400" dirty="0"/>
              <a:t>комбінація </a:t>
            </a:r>
            <a:r>
              <a:rPr lang="en-US" sz="1400" dirty="0"/>
              <a:t>Numpad 0) </a:t>
            </a:r>
            <a:r>
              <a:rPr lang="uk-UA" sz="1400" dirty="0"/>
              <a:t>для точного вибудовування композиції кадру з розміщенням моделі </a:t>
            </a:r>
            <a:r>
              <a:rPr lang="en-US" sz="1400" dirty="0" err="1"/>
              <a:t>ConicalSurface</a:t>
            </a:r>
            <a:r>
              <a:rPr lang="en-US" sz="1400" dirty="0"/>
              <a:t> </a:t>
            </a:r>
            <a:r>
              <a:rPr lang="uk-UA" sz="1400" dirty="0"/>
              <a:t>у фокусі, а також виконується просторове позиціонування та налаштування параметрів джерела світла (</a:t>
            </a:r>
            <a:r>
              <a:rPr lang="en-US" sz="1400" dirty="0"/>
              <a:t>Light) </a:t>
            </a:r>
            <a:r>
              <a:rPr lang="uk-UA" sz="1400" dirty="0"/>
              <a:t>за допомогою панелі трансформацій (</a:t>
            </a:r>
            <a:r>
              <a:rPr lang="en-US" sz="1400" dirty="0"/>
              <a:t>Transform: </a:t>
            </a:r>
            <a:r>
              <a:rPr lang="uk-UA" sz="1400" dirty="0"/>
              <a:t>параметри </a:t>
            </a:r>
            <a:r>
              <a:rPr lang="en-US" sz="1400" dirty="0"/>
              <a:t>Location </a:t>
            </a:r>
            <a:r>
              <a:rPr lang="uk-UA" sz="1400" dirty="0"/>
              <a:t>та </a:t>
            </a:r>
            <a:r>
              <a:rPr lang="en-US" sz="1400" dirty="0"/>
              <a:t>Rotation</a:t>
            </a:r>
            <a:r>
              <a:rPr lang="uk-UA" sz="1400" dirty="0"/>
              <a:t>).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2826196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"/>
            <a:ext cx="6300192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D8F0CE-8D86-4C02-B3FB-2056E73C9E35}"/>
              </a:ext>
            </a:extLst>
          </p:cNvPr>
          <p:cNvSpPr txBox="1"/>
          <p:nvPr/>
        </p:nvSpPr>
        <p:spPr>
          <a:xfrm>
            <a:off x="251520" y="1518672"/>
            <a:ext cx="23762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створення площини підлоги для вловлювання падаючих тіней в об'єктному режимі (</a:t>
            </a:r>
            <a:r>
              <a:rPr lang="en-US" sz="1400" dirty="0"/>
              <a:t>Object Mode) </a:t>
            </a:r>
            <a:r>
              <a:rPr lang="uk-UA" sz="1400" dirty="0"/>
              <a:t>за допомогою комбінації клавіш </a:t>
            </a:r>
            <a:r>
              <a:rPr lang="en-US" sz="1400" dirty="0"/>
              <a:t>Shift + A </a:t>
            </a:r>
            <a:r>
              <a:rPr lang="uk-UA" sz="1400" dirty="0"/>
              <a:t>викликається меню </a:t>
            </a:r>
            <a:r>
              <a:rPr lang="en-US" sz="1400" dirty="0"/>
              <a:t>Add </a:t>
            </a:r>
            <a:r>
              <a:rPr lang="uk-UA" sz="1400" dirty="0"/>
              <a:t>-</a:t>
            </a:r>
            <a:r>
              <a:rPr lang="en-US" sz="1400" dirty="0"/>
              <a:t>&gt; Mesh </a:t>
            </a:r>
            <a:r>
              <a:rPr lang="uk-UA" sz="1400" dirty="0"/>
              <a:t>та додається базовий примітив </a:t>
            </a:r>
            <a:r>
              <a:rPr lang="en-US" sz="1400" dirty="0"/>
              <a:t>Plane</a:t>
            </a:r>
            <a:r>
              <a:rPr lang="uk-UA" sz="1400" dirty="0"/>
              <a:t>. Це створює чотирикутну полігональну площину в точці поточного положення 3</a:t>
            </a:r>
            <a:r>
              <a:rPr lang="en-US" sz="1400" dirty="0"/>
              <a:t>D-</a:t>
            </a:r>
            <a:r>
              <a:rPr lang="uk-UA" sz="1400" dirty="0"/>
              <a:t>курсора</a:t>
            </a:r>
            <a:r>
              <a:rPr lang="en-US" sz="1400" dirty="0"/>
              <a:t>.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4012308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3323"/>
            <a:ext cx="9144000" cy="4441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1F3D88-2B70-46AF-9337-7C95FE6397BF}"/>
              </a:ext>
            </a:extLst>
          </p:cNvPr>
          <p:cNvSpPr txBox="1"/>
          <p:nvPr/>
        </p:nvSpPr>
        <p:spPr>
          <a:xfrm>
            <a:off x="215516" y="337220"/>
            <a:ext cx="87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формування опорної площини сцени (підлоги) та коректного просторового розміщення геометрії створений об'єкт </a:t>
            </a:r>
            <a:r>
              <a:rPr lang="en-US" sz="1400" dirty="0"/>
              <a:t>Plane </a:t>
            </a:r>
            <a:r>
              <a:rPr lang="uk-UA" sz="1400" dirty="0"/>
              <a:t>масштабується і позиціонується за допомогою панелі трансформацій (</a:t>
            </a:r>
            <a:r>
              <a:rPr lang="en-US" sz="1400" dirty="0"/>
              <a:t>Transform)</a:t>
            </a:r>
            <a:r>
              <a:rPr lang="uk-UA" sz="1400" dirty="0"/>
              <a:t>.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647030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" y="14116"/>
            <a:ext cx="3563887" cy="3227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42901"/>
            <a:ext cx="9144000" cy="237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5D6C08-1D87-422C-941E-B2D0C618819C}"/>
              </a:ext>
            </a:extLst>
          </p:cNvPr>
          <p:cNvSpPr txBox="1"/>
          <p:nvPr/>
        </p:nvSpPr>
        <p:spPr>
          <a:xfrm>
            <a:off x="3851920" y="827876"/>
            <a:ext cx="496855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налаштування реалістичного навколишнього освітлення та фонового середовища сцени у випадному меню параметрів затінення (</a:t>
            </a:r>
            <a:r>
              <a:rPr lang="en-US" sz="1400" dirty="0"/>
              <a:t>Viewport Shading) </a:t>
            </a:r>
            <a:r>
              <a:rPr lang="uk-UA" sz="1400" dirty="0"/>
              <a:t>активуються параметри </a:t>
            </a:r>
            <a:r>
              <a:rPr lang="en-US" sz="1400" dirty="0"/>
              <a:t>Scene Lights </a:t>
            </a:r>
            <a:r>
              <a:rPr lang="uk-UA" sz="1400" dirty="0"/>
              <a:t>та </a:t>
            </a:r>
            <a:r>
              <a:rPr lang="en-US" sz="1400" dirty="0"/>
              <a:t>Scene World, </a:t>
            </a:r>
            <a:r>
              <a:rPr lang="uk-UA" sz="1400" dirty="0"/>
              <a:t>що дозволяє перемкнути відображення зі стандартного </a:t>
            </a:r>
            <a:r>
              <a:rPr lang="uk-UA" sz="1400" dirty="0" err="1"/>
              <a:t>пресету</a:t>
            </a:r>
            <a:r>
              <a:rPr lang="uk-UA" sz="1400" dirty="0"/>
              <a:t> на фактичні джерела світла та параметри світу сцени</a:t>
            </a:r>
            <a:r>
              <a:rPr lang="en-US" sz="1400" dirty="0"/>
              <a:t>. </a:t>
            </a:r>
            <a:r>
              <a:rPr lang="uk-UA" sz="1400" dirty="0"/>
              <a:t>Через селектор оточення обирається панорамна карта неба (</a:t>
            </a:r>
            <a:r>
              <a:rPr lang="en-US" sz="1400" dirty="0"/>
              <a:t>sky / HDRI</a:t>
            </a:r>
            <a:r>
              <a:rPr lang="uk-UA" sz="1400" dirty="0"/>
              <a:t>).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2243647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781" y="1"/>
            <a:ext cx="5740737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AD6FA9-6000-4E63-A966-76DE5687C4D8}"/>
              </a:ext>
            </a:extLst>
          </p:cNvPr>
          <p:cNvSpPr txBox="1"/>
          <p:nvPr/>
        </p:nvSpPr>
        <p:spPr>
          <a:xfrm>
            <a:off x="251520" y="2165002"/>
            <a:ext cx="29523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налаштування реалістичного </a:t>
            </a:r>
            <a:r>
              <a:rPr lang="en-US" sz="1400" dirty="0"/>
              <a:t>PBR-</a:t>
            </a:r>
            <a:r>
              <a:rPr lang="uk-UA" sz="1400" dirty="0"/>
              <a:t>матеріалу у редакторі </a:t>
            </a:r>
            <a:r>
              <a:rPr lang="uk-UA" sz="1400" dirty="0" err="1"/>
              <a:t>шейдерів</a:t>
            </a:r>
            <a:r>
              <a:rPr lang="uk-UA" sz="1400" dirty="0"/>
              <a:t> (</a:t>
            </a:r>
            <a:r>
              <a:rPr lang="en-US" sz="1400" dirty="0"/>
              <a:t>Shader Editor) </a:t>
            </a:r>
            <a:r>
              <a:rPr lang="uk-UA" sz="1400" dirty="0"/>
              <a:t>формується </a:t>
            </a:r>
            <a:r>
              <a:rPr lang="uk-UA" sz="1400" dirty="0" err="1"/>
              <a:t>нодова</a:t>
            </a:r>
            <a:r>
              <a:rPr lang="uk-UA" sz="1400" dirty="0"/>
              <a:t> схема на базі </a:t>
            </a:r>
            <a:r>
              <a:rPr lang="uk-UA" sz="1400" dirty="0" err="1"/>
              <a:t>шейдера</a:t>
            </a:r>
            <a:r>
              <a:rPr lang="uk-UA" sz="1400" dirty="0"/>
              <a:t> </a:t>
            </a:r>
            <a:r>
              <a:rPr lang="en-US" sz="1400" dirty="0"/>
              <a:t>Principled BSDF </a:t>
            </a:r>
            <a:r>
              <a:rPr lang="uk-UA" sz="1400" dirty="0"/>
              <a:t>із підключенням комплекту </a:t>
            </a:r>
            <a:r>
              <a:rPr lang="uk-UA" sz="1400" dirty="0" err="1"/>
              <a:t>високодеталізованих</a:t>
            </a:r>
            <a:r>
              <a:rPr lang="uk-UA" sz="1400" dirty="0"/>
              <a:t> 4</a:t>
            </a:r>
            <a:r>
              <a:rPr lang="en-US" sz="1400" dirty="0"/>
              <a:t>K-</a:t>
            </a:r>
            <a:r>
              <a:rPr lang="uk-UA" sz="1400" dirty="0"/>
              <a:t>текстур.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1893529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1396"/>
            <a:ext cx="9144000" cy="3793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B72DB9-2F3D-4C38-AB06-D68EBE0EBCDD}"/>
              </a:ext>
            </a:extLst>
          </p:cNvPr>
          <p:cNvSpPr txBox="1"/>
          <p:nvPr/>
        </p:nvSpPr>
        <p:spPr>
          <a:xfrm>
            <a:off x="359532" y="265212"/>
            <a:ext cx="84249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виконання тестової або фінальної візуалізації статичного кадру сцени після остаточного масштабування текстурованої опорної площини та налаштування панорамного середовища у верхньому головному меню обирається пункт </a:t>
            </a:r>
            <a:r>
              <a:rPr lang="en-US" sz="1400" dirty="0"/>
              <a:t>Render </a:t>
            </a:r>
            <a:r>
              <a:rPr lang="uk-UA" sz="1400" dirty="0"/>
              <a:t>-</a:t>
            </a:r>
            <a:r>
              <a:rPr lang="en-US" sz="1400" dirty="0"/>
              <a:t>&gt; Render Image (</a:t>
            </a:r>
            <a:r>
              <a:rPr lang="uk-UA" sz="1400" dirty="0"/>
              <a:t>або натискається гаряча клавіша </a:t>
            </a:r>
            <a:r>
              <a:rPr lang="en-US" sz="1400" dirty="0"/>
              <a:t>F12), </a:t>
            </a:r>
            <a:r>
              <a:rPr lang="uk-UA" sz="1400" dirty="0"/>
              <a:t>що запускає процес програмного прорахунку зображення рушієм </a:t>
            </a:r>
            <a:r>
              <a:rPr lang="uk-UA" sz="1400" dirty="0" err="1"/>
              <a:t>рендерингу</a:t>
            </a:r>
            <a:r>
              <a:rPr lang="uk-UA" sz="1400" dirty="0"/>
              <a:t> з ракурсу активної камери з урахуванням глобального освітлення сцени, відблисків </a:t>
            </a:r>
            <a:r>
              <a:rPr lang="en-US" sz="1400" dirty="0"/>
              <a:t>PBR-</a:t>
            </a:r>
            <a:r>
              <a:rPr lang="uk-UA" sz="1400" dirty="0"/>
              <a:t>матеріалів і коректного відкидання тіней для оцінки фінальної якості композиції перед переходом до анімації.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3729393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C:\Users\IrA\Desktop\VGGI\lab\VR\render_ima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" y="0"/>
            <a:ext cx="9176455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677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1849388"/>
            <a:ext cx="5724127" cy="3865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78A883-7452-40D7-BAEF-F0C39EE48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13483"/>
            <a:ext cx="3347864" cy="3001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B0AC7D-6C69-4124-BB1A-55450F299560}"/>
              </a:ext>
            </a:extLst>
          </p:cNvPr>
          <p:cNvSpPr txBox="1"/>
          <p:nvPr/>
        </p:nvSpPr>
        <p:spPr>
          <a:xfrm>
            <a:off x="359532" y="337220"/>
            <a:ext cx="84249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переходу до етапу </a:t>
            </a:r>
            <a:r>
              <a:rPr lang="uk-UA" sz="1400" dirty="0" err="1"/>
              <a:t>ригінгу</a:t>
            </a:r>
            <a:r>
              <a:rPr lang="uk-UA" sz="1400" dirty="0"/>
              <a:t> та створення скелетної анімації в об'єктному режимі (</a:t>
            </a:r>
            <a:r>
              <a:rPr lang="en-US" sz="1400" dirty="0"/>
              <a:t>Object Mode) </a:t>
            </a:r>
            <a:r>
              <a:rPr lang="uk-UA" sz="1400" dirty="0"/>
              <a:t>за допомогою меню </a:t>
            </a:r>
            <a:r>
              <a:rPr lang="en-US" sz="1400" dirty="0"/>
              <a:t>Add (</a:t>
            </a:r>
            <a:r>
              <a:rPr lang="uk-UA" sz="1400" dirty="0"/>
              <a:t>комбінація клавіш </a:t>
            </a:r>
            <a:r>
              <a:rPr lang="en-US" sz="1400" dirty="0"/>
              <a:t>Shift + A) </a:t>
            </a:r>
            <a:r>
              <a:rPr lang="uk-UA" sz="1400" dirty="0"/>
              <a:t>до сцени додається базовий об'єкт арматури </a:t>
            </a:r>
            <a:r>
              <a:rPr lang="en-US" sz="1400" dirty="0"/>
              <a:t>Armature, </a:t>
            </a:r>
            <a:r>
              <a:rPr lang="uk-UA" sz="1400" dirty="0"/>
              <a:t>після чого на правій панелі у вкладці властивостей скелета (</a:t>
            </a:r>
            <a:r>
              <a:rPr lang="en-US" sz="1400" dirty="0"/>
              <a:t>Object Data Properties) </a:t>
            </a:r>
            <a:r>
              <a:rPr lang="uk-UA" sz="1400" dirty="0"/>
              <a:t>у розділі </a:t>
            </a:r>
            <a:r>
              <a:rPr lang="en-US" sz="1400" dirty="0"/>
              <a:t>Viewport Display </a:t>
            </a:r>
            <a:r>
              <a:rPr lang="uk-UA" sz="1400" dirty="0"/>
              <a:t>обов'язково активується параметр </a:t>
            </a:r>
            <a:r>
              <a:rPr lang="en-US" sz="1400" dirty="0"/>
              <a:t>In Front, </a:t>
            </a:r>
            <a:r>
              <a:rPr lang="uk-UA" sz="1400" dirty="0"/>
              <a:t>що вмикає режим наскрізного відображення кістки поверх непрозорої геометрії </a:t>
            </a:r>
            <a:r>
              <a:rPr lang="en-US" sz="1400" dirty="0" err="1"/>
              <a:t>ConicalSurface</a:t>
            </a:r>
            <a:r>
              <a:rPr lang="uk-UA" sz="1400" dirty="0"/>
              <a:t>.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1019234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410" y="2168402"/>
            <a:ext cx="4646590" cy="3561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68403"/>
            <a:ext cx="4427984" cy="3561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FB41E8-9FBD-4674-9004-4D3559DA02CB}"/>
              </a:ext>
            </a:extLst>
          </p:cNvPr>
          <p:cNvSpPr txBox="1"/>
          <p:nvPr/>
        </p:nvSpPr>
        <p:spPr>
          <a:xfrm>
            <a:off x="251520" y="481236"/>
            <a:ext cx="86409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побудови кісткового каркаса (скелета) моделі необхідно перейти в режим редагування арматури (</a:t>
            </a:r>
            <a:r>
              <a:rPr lang="en-US" sz="1400" dirty="0"/>
              <a:t>Edit Mode), </a:t>
            </a:r>
            <a:r>
              <a:rPr lang="uk-UA" sz="1400" dirty="0"/>
              <a:t>виділити кінцевий суглоб базової кістки та за допомогою операції </a:t>
            </a:r>
            <a:r>
              <a:rPr lang="uk-UA" sz="1400" dirty="0" err="1"/>
              <a:t>екструдування</a:t>
            </a:r>
            <a:r>
              <a:rPr lang="uk-UA" sz="1400" dirty="0"/>
              <a:t> </a:t>
            </a:r>
            <a:r>
              <a:rPr lang="en-US" sz="1400" dirty="0"/>
              <a:t>Extrude (</a:t>
            </a:r>
            <a:r>
              <a:rPr lang="uk-UA" sz="1400" dirty="0"/>
              <a:t>гаряча клавіша </a:t>
            </a:r>
            <a:r>
              <a:rPr lang="en-US" sz="1400" dirty="0"/>
              <a:t>E </a:t>
            </a:r>
            <a:r>
              <a:rPr lang="uk-UA" sz="1400" dirty="0"/>
              <a:t>або меню </a:t>
            </a:r>
            <a:r>
              <a:rPr lang="en-US" sz="1400" dirty="0"/>
              <a:t>Armature -&gt; Extrude) </a:t>
            </a:r>
            <a:r>
              <a:rPr lang="uk-UA" sz="1400" dirty="0"/>
              <a:t>наростити нові зв'язані кісткові сегменти вздовж вертикальної осі форми, формуючи багатоланковий ієрархічний кінематичний ланцюг всередині геометрії </a:t>
            </a:r>
            <a:r>
              <a:rPr lang="en-US" sz="1400" dirty="0" err="1"/>
              <a:t>ConicalSurface</a:t>
            </a:r>
            <a:r>
              <a:rPr lang="en-US" sz="1400" dirty="0"/>
              <a:t> </a:t>
            </a:r>
            <a:r>
              <a:rPr lang="uk-UA" sz="1400" dirty="0"/>
              <a:t>для подальшої плавної деформації та керування анімацією об'єкта. 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1152020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073525"/>
            <a:ext cx="3056919" cy="2641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9428"/>
            <a:ext cx="1691680" cy="801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6" y="2397383"/>
            <a:ext cx="6012161" cy="3317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0EEA1E-65A8-467B-B5B0-DD658D49EA67}"/>
              </a:ext>
            </a:extLst>
          </p:cNvPr>
          <p:cNvSpPr txBox="1"/>
          <p:nvPr/>
        </p:nvSpPr>
        <p:spPr>
          <a:xfrm>
            <a:off x="323528" y="193204"/>
            <a:ext cx="84249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прив'язки сформованого кісткового каркаса до геометрії моделі (процедура </a:t>
            </a:r>
            <a:r>
              <a:rPr lang="uk-UA" sz="1400" dirty="0" err="1"/>
              <a:t>скінінгу</a:t>
            </a:r>
            <a:r>
              <a:rPr lang="uk-UA" sz="1400" dirty="0"/>
              <a:t>) після завершення побудови багатоланкового ланцюга кісток у режимі </a:t>
            </a:r>
            <a:r>
              <a:rPr lang="en-US" sz="1400" dirty="0"/>
              <a:t>Edit Mode </a:t>
            </a:r>
            <a:r>
              <a:rPr lang="uk-UA" sz="1400" dirty="0"/>
              <a:t>необхідно повернутися в об'єктний режим (</a:t>
            </a:r>
            <a:r>
              <a:rPr lang="en-US" sz="1400" dirty="0"/>
              <a:t>Object Mode), </a:t>
            </a:r>
            <a:r>
              <a:rPr lang="uk-UA" sz="1400" dirty="0"/>
              <a:t>виділити меш </a:t>
            </a:r>
            <a:r>
              <a:rPr lang="en-US" sz="1400" dirty="0" err="1"/>
              <a:t>ConicalSurface</a:t>
            </a:r>
            <a:r>
              <a:rPr lang="en-US" sz="1400" dirty="0"/>
              <a:t>, </a:t>
            </a:r>
            <a:r>
              <a:rPr lang="uk-UA" sz="1400" dirty="0"/>
              <a:t>а потім із затиснутою клавішею </a:t>
            </a:r>
            <a:r>
              <a:rPr lang="en-US" sz="1400" dirty="0"/>
              <a:t>Shift </a:t>
            </a:r>
            <a:r>
              <a:rPr lang="uk-UA" sz="1400" dirty="0"/>
              <a:t>виділити об'єкт арматури, зробивши його активним. Далі за допомогою комбінації клавіш </a:t>
            </a:r>
            <a:r>
              <a:rPr lang="en-US" sz="1400" dirty="0"/>
              <a:t>Ctrl + P </a:t>
            </a:r>
            <a:r>
              <a:rPr lang="uk-UA" sz="1400" dirty="0"/>
              <a:t>викликається контекстне меню встановлення зв'язку </a:t>
            </a:r>
            <a:r>
              <a:rPr lang="en-US" sz="1400" dirty="0"/>
              <a:t>Set Parent To </a:t>
            </a:r>
            <a:r>
              <a:rPr lang="uk-UA" sz="1400" dirty="0"/>
              <a:t>та обирається пункт </a:t>
            </a:r>
            <a:r>
              <a:rPr lang="en-US" sz="1400" dirty="0"/>
              <a:t>Armature Deform -&gt; With Automatic Weights, </a:t>
            </a:r>
            <a:r>
              <a:rPr lang="uk-UA" sz="1400" dirty="0"/>
              <a:t>що автоматично генерує відповідні </a:t>
            </a:r>
            <a:r>
              <a:rPr lang="uk-UA" sz="1400" dirty="0" err="1"/>
              <a:t>вертексні</a:t>
            </a:r>
            <a:r>
              <a:rPr lang="uk-UA" sz="1400" dirty="0"/>
              <a:t> групи під кожну кістку та розраховує вагові коефіцієнти деформації полігональної сітки за алгоритмом теплових ваг, забезпечуючи плавні та фізично коректні вигини поверхні під час керування кістками в режимі </a:t>
            </a:r>
            <a:r>
              <a:rPr lang="en-US" sz="1400" dirty="0"/>
              <a:t>Pose Mode. 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2380941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" y="2052679"/>
            <a:ext cx="4139946" cy="3689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3" y="913284"/>
            <a:ext cx="1763688" cy="1058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052679"/>
            <a:ext cx="4932040" cy="36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E2C355-694D-4531-B094-EB402DB75A68}"/>
              </a:ext>
            </a:extLst>
          </p:cNvPr>
          <p:cNvSpPr txBox="1"/>
          <p:nvPr/>
        </p:nvSpPr>
        <p:spPr>
          <a:xfrm>
            <a:off x="179512" y="193204"/>
            <a:ext cx="698477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тестування коректності виконаного </a:t>
            </a:r>
            <a:r>
              <a:rPr lang="uk-UA" sz="1400" dirty="0" err="1"/>
              <a:t>скінінгу</a:t>
            </a:r>
            <a:r>
              <a:rPr lang="uk-UA" sz="1400" dirty="0"/>
              <a:t> та створення анімаційних поз необхідно виділити арматуру й через меню селектора режимів перемкнутися з </a:t>
            </a:r>
            <a:r>
              <a:rPr lang="en-US" sz="1400" dirty="0"/>
              <a:t>Object Mode </a:t>
            </a:r>
            <a:r>
              <a:rPr lang="uk-UA" sz="1400" dirty="0"/>
              <a:t>у режим пози (</a:t>
            </a:r>
            <a:r>
              <a:rPr lang="en-US" sz="1400" dirty="0"/>
              <a:t>Pose Mode). </a:t>
            </a:r>
            <a:r>
              <a:rPr lang="uk-UA" sz="1400" dirty="0"/>
              <a:t>У цьому режимі здійснюється виділення та просторова трансформація окремих ланок кісткового ланцюга (кутове обертання за допомогою клавіші </a:t>
            </a:r>
            <a:r>
              <a:rPr lang="en-US" sz="1400" dirty="0"/>
              <a:t>R), </a:t>
            </a:r>
            <a:r>
              <a:rPr lang="uk-UA" sz="1400" dirty="0"/>
              <a:t>що демонструє синхронну деформацію полігональної сітки </a:t>
            </a:r>
            <a:r>
              <a:rPr lang="en-US" sz="1400" dirty="0" err="1"/>
              <a:t>ConicalSurface</a:t>
            </a:r>
            <a:r>
              <a:rPr lang="en-US" sz="1400" dirty="0"/>
              <a:t> </a:t>
            </a:r>
            <a:r>
              <a:rPr lang="uk-UA" sz="1400" dirty="0"/>
              <a:t>відповідно до розрахованих вагових коефіцієнтів вершин і дозволяє переконатися у плавності вигинів поверхні перед фіксацією ключових кадрів анімації на шкалі часу.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683548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3324"/>
            <a:ext cx="9144000" cy="4542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DDBFC5-AE0C-413F-9547-93EF63344B44}"/>
              </a:ext>
            </a:extLst>
          </p:cNvPr>
          <p:cNvSpPr txBox="1"/>
          <p:nvPr/>
        </p:nvSpPr>
        <p:spPr>
          <a:xfrm>
            <a:off x="179512" y="121196"/>
            <a:ext cx="87849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створення та налаштування скелетної анімації здійснюється перехід до робочого простору </a:t>
            </a:r>
            <a:r>
              <a:rPr lang="en-US" sz="1400" dirty="0"/>
              <a:t>Animation, </a:t>
            </a:r>
            <a:r>
              <a:rPr lang="uk-UA" sz="1400" dirty="0"/>
              <a:t>де робоча зона розділена на два 3</a:t>
            </a:r>
            <a:r>
              <a:rPr lang="en-US" sz="1400" dirty="0"/>
              <a:t>D-</a:t>
            </a:r>
            <a:r>
              <a:rPr lang="uk-UA" sz="1400" dirty="0"/>
              <a:t>вікна для одночасного технічного контролю форми мешу та огляду сцени з накладеними матеріалами й освітленням. У режимі </a:t>
            </a:r>
            <a:r>
              <a:rPr lang="en-US" sz="1400" dirty="0"/>
              <a:t>Pose Mode </a:t>
            </a:r>
            <a:r>
              <a:rPr lang="uk-UA" sz="1400" dirty="0"/>
              <a:t>за допомогою просторової трансформації та обертання окремих ланок кісткового каркаса формуються фази динамічного вигину моделі </a:t>
            </a:r>
            <a:r>
              <a:rPr lang="en-US" sz="1400" dirty="0" err="1"/>
              <a:t>ConicalSurface</a:t>
            </a:r>
            <a:r>
              <a:rPr lang="uk-UA" sz="1400" dirty="0"/>
              <a:t>.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2825138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086196"/>
            <a:ext cx="3600400" cy="1646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831358"/>
            <a:ext cx="5429146" cy="1901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0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3" y="-49768"/>
            <a:ext cx="2268357" cy="5782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BD534B-EFAF-49AF-9C9D-3E5B74527EB0}"/>
              </a:ext>
            </a:extLst>
          </p:cNvPr>
          <p:cNvSpPr txBox="1"/>
          <p:nvPr/>
        </p:nvSpPr>
        <p:spPr>
          <a:xfrm>
            <a:off x="2555776" y="144834"/>
            <a:ext cx="61451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експорту та фінальної візуалізації створеної скелетної анімації на вкладці </a:t>
            </a:r>
            <a:r>
              <a:rPr lang="en-US" sz="1400" dirty="0"/>
              <a:t>Output Properties </a:t>
            </a:r>
            <a:r>
              <a:rPr lang="uk-UA" sz="1400" dirty="0"/>
              <a:t>у блоці </a:t>
            </a:r>
            <a:r>
              <a:rPr lang="en-US" sz="1400" dirty="0"/>
              <a:t>Output </a:t>
            </a:r>
            <a:r>
              <a:rPr lang="uk-UA" sz="1400" dirty="0"/>
              <a:t>вказується каталог збереження файлу, вихідний формат встановлюється як </a:t>
            </a:r>
            <a:r>
              <a:rPr lang="en-US" sz="1400" dirty="0" err="1"/>
              <a:t>FFmpeg</a:t>
            </a:r>
            <a:r>
              <a:rPr lang="en-US" sz="1400" dirty="0"/>
              <a:t> Video (</a:t>
            </a:r>
            <a:r>
              <a:rPr lang="uk-UA" sz="1400" dirty="0"/>
              <a:t>колірний режим </a:t>
            </a:r>
            <a:r>
              <a:rPr lang="en-US" sz="1400" dirty="0"/>
              <a:t>RGB) </a:t>
            </a:r>
            <a:r>
              <a:rPr lang="uk-UA" sz="1400" dirty="0"/>
              <a:t>та </a:t>
            </a:r>
            <a:r>
              <a:rPr lang="uk-UA" sz="1400" dirty="0" err="1"/>
              <a:t>аудіокодек</a:t>
            </a:r>
            <a:r>
              <a:rPr lang="uk-UA" sz="1400" dirty="0"/>
              <a:t> </a:t>
            </a:r>
            <a:r>
              <a:rPr lang="en-US" sz="1400" dirty="0"/>
              <a:t>MP3. </a:t>
            </a:r>
            <a:r>
              <a:rPr lang="uk-UA" sz="1400" dirty="0"/>
              <a:t>Після завершення конфігурації у верхньому меню запускається команда </a:t>
            </a:r>
            <a:r>
              <a:rPr lang="en-US" sz="1400" dirty="0"/>
              <a:t>Render -&gt; Render Animation, </a:t>
            </a:r>
            <a:r>
              <a:rPr lang="uk-UA" sz="1400" dirty="0"/>
              <a:t>яка виконує </a:t>
            </a:r>
            <a:r>
              <a:rPr lang="uk-UA" sz="1400" dirty="0" err="1"/>
              <a:t>покадровий</a:t>
            </a:r>
            <a:r>
              <a:rPr lang="uk-UA" sz="1400" dirty="0"/>
              <a:t> прорахунок динамічної деформації об'єкта </a:t>
            </a:r>
            <a:r>
              <a:rPr lang="en-US" sz="1400" dirty="0" err="1"/>
              <a:t>ConicalSurface</a:t>
            </a:r>
            <a:r>
              <a:rPr lang="en-US" sz="1400" dirty="0"/>
              <a:t> </a:t>
            </a:r>
            <a:r>
              <a:rPr lang="uk-UA" sz="1400" dirty="0"/>
              <a:t>з урахуванням матеріалів, освітлення та позиціонування камери із записом готового відеофайлу. </a:t>
            </a:r>
            <a:endParaRPr lang="ru-UA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782F1-51EF-43F4-B6B1-E419C981CB91}"/>
              </a:ext>
            </a:extLst>
          </p:cNvPr>
          <p:cNvSpPr txBox="1"/>
          <p:nvPr/>
        </p:nvSpPr>
        <p:spPr>
          <a:xfrm>
            <a:off x="6156176" y="2057281"/>
            <a:ext cx="266429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перевірки збереженого результату, зведення доріжок здійснюється перехід до спеціалізованого середовища через меню додавання просторів </a:t>
            </a:r>
            <a:r>
              <a:rPr lang="en-US" sz="1400" dirty="0"/>
              <a:t>Add Workspace -&gt; Video Editing -&gt; Video Editing.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2013638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69668"/>
            <a:ext cx="3235752" cy="1345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946" y="2137420"/>
            <a:ext cx="5835054" cy="357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1FEB84-E322-4175-9983-74C2B152B107}"/>
              </a:ext>
            </a:extLst>
          </p:cNvPr>
          <p:cNvSpPr txBox="1"/>
          <p:nvPr/>
        </p:nvSpPr>
        <p:spPr>
          <a:xfrm>
            <a:off x="323528" y="409228"/>
            <a:ext cx="84969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Для додавання звукового супроводу до згенерованого відеоряду анімації у вікні </a:t>
            </a:r>
            <a:r>
              <a:rPr lang="uk-UA" sz="1400" dirty="0" err="1"/>
              <a:t>відеосеквенсора</a:t>
            </a:r>
            <a:r>
              <a:rPr lang="uk-UA" sz="1400" dirty="0"/>
              <a:t> (</a:t>
            </a:r>
            <a:r>
              <a:rPr lang="en-US" sz="1400" dirty="0"/>
              <a:t>Video Sequencer) </a:t>
            </a:r>
            <a:r>
              <a:rPr lang="uk-UA" sz="1400" dirty="0"/>
              <a:t>через меню </a:t>
            </a:r>
            <a:r>
              <a:rPr lang="en-US" sz="1400" dirty="0"/>
              <a:t>Add -&gt; Sound (</a:t>
            </a:r>
            <a:r>
              <a:rPr lang="uk-UA" sz="1400" dirty="0"/>
              <a:t>або за допомогою комбінації клавіш </a:t>
            </a:r>
            <a:r>
              <a:rPr lang="en-US" sz="1400" dirty="0"/>
              <a:t>Shift + A) </a:t>
            </a:r>
            <a:r>
              <a:rPr lang="uk-UA" sz="1400" dirty="0"/>
              <a:t>здійснюється завантаження </a:t>
            </a:r>
            <a:r>
              <a:rPr lang="uk-UA" sz="1400" dirty="0" err="1"/>
              <a:t>аудіофайлу</a:t>
            </a:r>
            <a:r>
              <a:rPr lang="uk-UA" sz="1400" dirty="0"/>
              <a:t>. Імпортована </a:t>
            </a:r>
            <a:r>
              <a:rPr lang="uk-UA" sz="1400" dirty="0" err="1"/>
              <a:t>аудіодоріжка</a:t>
            </a:r>
            <a:r>
              <a:rPr lang="uk-UA" sz="1400" dirty="0"/>
              <a:t> розміщується на виділеному каналі часової шкали (</a:t>
            </a:r>
            <a:r>
              <a:rPr lang="en-US" sz="1400" dirty="0"/>
              <a:t>Melody), </a:t>
            </a:r>
            <a:r>
              <a:rPr lang="uk-UA" sz="1400" dirty="0"/>
              <a:t>що дозволяє виконати точну часову синхронізацію </a:t>
            </a:r>
            <a:r>
              <a:rPr lang="uk-UA" sz="1400" dirty="0" err="1"/>
              <a:t>аудіосупроводу</a:t>
            </a:r>
            <a:r>
              <a:rPr lang="uk-UA" sz="1400" dirty="0"/>
              <a:t> з динамікою руху та фазами деформації моделі </a:t>
            </a:r>
            <a:r>
              <a:rPr lang="en-US" sz="1400" dirty="0" err="1"/>
              <a:t>ConicalSurface</a:t>
            </a:r>
            <a:r>
              <a:rPr lang="en-US" sz="1400" dirty="0"/>
              <a:t> </a:t>
            </a:r>
            <a:r>
              <a:rPr lang="uk-UA" sz="1400" dirty="0"/>
              <a:t>для формування завершеного мультимедійного відеоролика перед фінальним експортом проекту. </a:t>
            </a:r>
            <a:endParaRPr lang="ru-UA" sz="1400" dirty="0"/>
          </a:p>
        </p:txBody>
      </p:sp>
    </p:spTree>
    <p:extLst>
      <p:ext uri="{BB962C8B-B14F-4D97-AF65-F5344CB8AC3E}">
        <p14:creationId xmlns:p14="http://schemas.microsoft.com/office/powerpoint/2010/main" val="21273414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</TotalTime>
  <Words>1516</Words>
  <Application>Microsoft Office PowerPoint</Application>
  <PresentationFormat>Экран (16:10)</PresentationFormat>
  <Paragraphs>29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8" baseType="lpstr">
      <vt:lpstr>Arial</vt:lpstr>
      <vt:lpstr>Calibri</vt:lpstr>
      <vt:lpstr>Тема Office</vt:lpstr>
      <vt:lpstr>Комп'ютерне моделювання, текстурування та анімація складних поверхонь у Blender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Iryna Sakhatska</cp:lastModifiedBy>
  <cp:revision>33</cp:revision>
  <dcterms:created xsi:type="dcterms:W3CDTF">2026-10-30T13:12:12Z</dcterms:created>
  <dcterms:modified xsi:type="dcterms:W3CDTF">2026-10-30T20:14:36Z</dcterms:modified>
</cp:coreProperties>
</file>